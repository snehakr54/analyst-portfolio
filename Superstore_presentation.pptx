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145908</c:v>
                </c:pt>
                <c:pt idx="1">
                  <c:v>127653</c:v>
                </c:pt>
                <c:pt idx="2">
                  <c:v>102921</c:v>
                </c:pt>
                <c:pt idx="3">
                  <c:v>103375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133710</c:v>
                </c:pt>
                <c:pt idx="1">
                  <c:v>153225</c:v>
                </c:pt>
                <c:pt idx="2">
                  <c:v>102425</c:v>
                </c:pt>
                <c:pt idx="3">
                  <c:v>70076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182471</c:v>
                </c:pt>
                <c:pt idx="1">
                  <c:v>178512</c:v>
                </c:pt>
                <c:pt idx="2">
                  <c:v>145674</c:v>
                </c:pt>
                <c:pt idx="3">
                  <c:v>93536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rgbClr val="C84B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248131</c:v>
                </c:pt>
                <c:pt idx="1">
                  <c:v>210129</c:v>
                </c:pt>
                <c:pt idx="2">
                  <c:v>141627</c:v>
                </c:pt>
                <c:pt idx="3">
                  <c:v>122165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827456</c:v>
                </c:pt>
                <c:pt idx="1">
                  <c:v>728659</c:v>
                </c:pt>
                <c:pt idx="2">
                  <c:v>705422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1148061</c:v>
                </c:pt>
                <c:pt idx="1">
                  <c:v>688494</c:v>
                </c:pt>
                <c:pt idx="2">
                  <c:v>424982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Home Office</c:v>
                  </c:pt>
                  <c:pt idx="1">
                    <c:v>Corporate</c:v>
                  </c:pt>
                  <c:pt idx="2">
                    <c:v>Consumer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243</c:v>
                </c:pt>
                <c:pt idx="1">
                  <c:v>233</c:v>
                </c:pt>
                <c:pt idx="2">
                  <c:v>225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Storage</c:v>
                  </c:pt>
                  <c:pt idx="3">
                    <c:v>Tables</c:v>
                  </c:pt>
                  <c:pt idx="4">
                    <c:v>Binders</c:v>
                  </c:pt>
                  <c:pt idx="5">
                    <c:v>Machines</c:v>
                  </c:pt>
                  <c:pt idx="6">
                    <c:v>Accessories</c:v>
                  </c:pt>
                  <c:pt idx="7">
                    <c:v>Copiers</c:v>
                  </c:pt>
                  <c:pt idx="8">
                    <c:v>Bookcases</c:v>
                  </c:pt>
                  <c:pt idx="9">
                    <c:v>Appliances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327782</c:v>
                </c:pt>
                <c:pt idx="1">
                  <c:v>322823</c:v>
                </c:pt>
                <c:pt idx="2">
                  <c:v>219343</c:v>
                </c:pt>
                <c:pt idx="3">
                  <c:v>202811</c:v>
                </c:pt>
                <c:pt idx="4">
                  <c:v>200029</c:v>
                </c:pt>
                <c:pt idx="5">
                  <c:v>189239</c:v>
                </c:pt>
                <c:pt idx="6">
                  <c:v>164187</c:v>
                </c:pt>
                <c:pt idx="7">
                  <c:v>146248</c:v>
                </c:pt>
                <c:pt idx="8">
                  <c:v>113813</c:v>
                </c:pt>
                <c:pt idx="9">
                  <c:v>104618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Sales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479856</c:v>
                </c:pt>
                <c:pt idx="1">
                  <c:v>459436</c:v>
                </c:pt>
                <c:pt idx="2">
                  <c:v>600193</c:v>
                </c:pt>
                <c:pt idx="3">
                  <c:v>722052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D97706"/>
            </a:solidFill>
            <a:ln w="381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2015→2016</c:v>
                  </c:pt>
                  <c:pt idx="1">
                    <c:v>2016→2017</c:v>
                  </c:pt>
                  <c:pt idx="2">
                    <c:v>2017→2018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-4.3</c:v>
                </c:pt>
                <c:pt idx="1">
                  <c:v>30.6</c:v>
                </c:pt>
                <c:pt idx="2">
                  <c:v>20.3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548640"/>
            <a:ext cx="2011680" cy="2011680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291840"/>
            <a:ext cx="1280160" cy="128016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554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project — cleaning, exploration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dashboard for 2015–2018 sales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640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97880" y="1115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389888"/>
            <a:ext cx="1463040" cy="18288"/>
          </a:xfrm>
          <a:prstGeom prst="rect">
            <a:avLst/>
          </a:prstGeom>
          <a:solidFill>
            <a:srgbClr val="2E4F7A"/>
          </a:solidFill>
          <a:ln w="12700">
            <a:solidFill>
              <a:srgbClr val="2E4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97880" y="2121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2395728"/>
            <a:ext cx="1463040" cy="18288"/>
          </a:xfrm>
          <a:prstGeom prst="rect">
            <a:avLst/>
          </a:prstGeom>
          <a:solidFill>
            <a:srgbClr val="2E4F7A"/>
          </a:solidFill>
          <a:ln w="12700">
            <a:solidFill>
              <a:srgbClr val="2E4F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97880" y="31272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401568"/>
            <a:ext cx="1463040" cy="18288"/>
          </a:xfrm>
          <a:prstGeom prst="rect">
            <a:avLst/>
          </a:prstGeom>
          <a:solidFill>
            <a:srgbClr val="2E4F7A"/>
          </a:solidFill>
          <a:ln w="12700">
            <a:solidFill>
              <a:srgbClr val="2E4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yrs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97880" y="41330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data analysis project built from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38528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43000"/>
            <a:ext cx="1938528" cy="640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307592"/>
            <a:ext cx="420624" cy="420624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25856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9,800 rows of Superstore sales data covering orders, customers, products, regions and sales across 4 years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87168" y="1143000"/>
            <a:ext cx="1938528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143000"/>
            <a:ext cx="193852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307592"/>
            <a:ext cx="420624" cy="42062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96896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96896" y="225856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date formats, converted Postal Codes from float to string, stripped whitespace, confirmed zero duplicates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08576" y="1143000"/>
            <a:ext cx="1938528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143000"/>
            <a:ext cx="193852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1307592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Stats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225856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summary tables by region, category, segment and time. Computed KPIs, growth rates and top performers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9984" y="1143000"/>
            <a:ext cx="1938528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9984" y="1143000"/>
            <a:ext cx="1938528" cy="64008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94576" y="1307592"/>
            <a:ext cx="420624" cy="420624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9712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2258568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 fully-formatted Excel dashboard with 5 charts, 4 KPI cards, and cross-sheet formulas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fixed before any analysis began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694944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265176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Affected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Postal Code nulls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→ int string; nulls = 'Unknown'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Fixed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 (string)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to datetime (mixed format)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Fixed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 Date (string)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to datetime (mixed format)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Fixed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Whitespace in 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str cols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.str.strip() to 13 columns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Fixed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with df.duplicated()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New: Days to Ship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Derived: Ship Date − Order 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Added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005840"/>
            <a:ext cx="1508760" cy="795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06640" y="1005840"/>
            <a:ext cx="50292" cy="7955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6368" y="10607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16368" y="1463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errors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06640" y="1892808"/>
            <a:ext cx="1508760" cy="795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06640" y="1892808"/>
            <a:ext cx="50292" cy="7955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6368" y="19476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16368" y="2350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406640" y="2779776"/>
            <a:ext cx="1508760" cy="795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06640" y="2779776"/>
            <a:ext cx="50292" cy="7955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16368" y="28346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516368" y="32369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fixed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406640" y="3666744"/>
            <a:ext cx="1508760" cy="795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06640" y="3666744"/>
            <a:ext cx="50292" cy="7955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16368" y="37216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516368" y="41239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retained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· 2015 – 2018 · All Regions &amp; Categories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606040" cy="132588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606040" cy="502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280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$2.26M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+51% growth 2015→2018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2606040" cy="132588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188720"/>
            <a:ext cx="260604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280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19272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2,450 orders / year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188720"/>
            <a:ext cx="2606040" cy="132588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188720"/>
            <a:ext cx="26060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280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53912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3912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$0.44 – $22,638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697480"/>
            <a:ext cx="2606040" cy="132588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97480"/>
            <a:ext cx="2606040" cy="5029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84632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US regions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2697480"/>
            <a:ext cx="2606040" cy="132588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697480"/>
            <a:ext cx="2606040" cy="50292"/>
          </a:xfrm>
          <a:prstGeom prst="rect">
            <a:avLst/>
          </a:prstGeom>
          <a:solidFill>
            <a:srgbClr val="6B50C8"/>
          </a:solidFill>
          <a:ln w="12700">
            <a:solidFill>
              <a:srgbClr val="6B50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days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319272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to Ship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9272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= 60%+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89320" y="2697480"/>
            <a:ext cx="2606040" cy="132588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9320" y="2697480"/>
            <a:ext cx="2606040" cy="502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1,849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153912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3912" y="3611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categories, 17 sub-cats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dominate — all regions grew consistently 2015–2018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1051560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1051560"/>
            <a:ext cx="50292" cy="8046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62472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62472" y="13990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$710K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06640" y="1344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+107%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97880" y="1984248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97880" y="1984248"/>
            <a:ext cx="50292" cy="8046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62472" y="20482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62472" y="2331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$670K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664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+89%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2916936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2916936"/>
            <a:ext cx="5029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62472" y="29809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62472" y="3264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$493K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06640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+72%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97880" y="3849624"/>
            <a:ext cx="2880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97880" y="3849624"/>
            <a:ext cx="50292" cy="80467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62472" y="3913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62472" y="41970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$440K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06640" y="4142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+94%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Segment Breakdown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in revenue; Consumer segment drives order volume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16736"/>
            <a:ext cx="32004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65760" y="141732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66344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segment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316736"/>
            <a:ext cx="32004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4663440" y="1417320"/>
          <a:ext cx="41148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663440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by segment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3538728"/>
            <a:ext cx="32004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16" name="Chart 2" descr=""/>
          <p:cNvGraphicFramePr/>
          <p:nvPr/>
        </p:nvGraphicFramePr>
        <p:xfrm>
          <a:off x="4663440" y="3611880"/>
          <a:ext cx="41148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Sub-Categories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Chairs are the revenue leaders; Copiers have the highest avg. order value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1051560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051560"/>
            <a:ext cx="50292" cy="8046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2512" y="11064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Sub-cat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382512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82512" y="1618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$328K total sales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17920" y="1984248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984248"/>
            <a:ext cx="50292" cy="8046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203911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Sub-cat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82512" y="2276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82512" y="2551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$323K total sales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17920" y="2916936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16936"/>
            <a:ext cx="5029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2512" y="29718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AOV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82512" y="3209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82512" y="3483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$272 avg per order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217920" y="3849624"/>
            <a:ext cx="25603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3849624"/>
            <a:ext cx="50292" cy="80467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82512" y="39044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82512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82512" y="4416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1,523 order lines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&amp; Seasonality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year-over-year growth with a strong Q4 seasonal spike every year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65760" y="3401568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63440" y="1298448"/>
            <a:ext cx="32004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63440" y="14173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545336"/>
            <a:ext cx="493776" cy="493776"/>
          </a:xfrm>
          <a:prstGeom prst="ellipse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1545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349240" y="15087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&amp; December are consistently the highest-sales months — a clear seasonal pattern every year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63440" y="2304288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2432304"/>
            <a:ext cx="493776" cy="493776"/>
          </a:xfrm>
          <a:prstGeom prst="ellipse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349240" y="23957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is the weakest month across all four years — a potential target for promotions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3191256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3319272"/>
            <a:ext cx="493776" cy="493776"/>
          </a:xfrm>
          <a:prstGeom prst="ellipse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3319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+51%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349240" y="32826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grew 51% from 2015 to 2018, accelerating in the final two years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63440" y="4078224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1A2B4A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4206240"/>
            <a:ext cx="493776" cy="493776"/>
          </a:xfrm>
          <a:prstGeom prst="ellipse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4206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349240" y="41696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was the best year on record at $722K — up 20% on 2017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F3C6E"/>
          </a:solidFill>
          <a:ln w="12700">
            <a:solidFill>
              <a:srgbClr val="1F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743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2015–2018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97433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to do next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4160520" cy="502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61288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117957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are the core revenue engines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00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account for 61% of total sales. Both grew strongly — West up 107% over 4 years. Protect and invest in these markets.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3886200" cy="438912"/>
          </a:xfrm>
          <a:prstGeom prst="rect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58568"/>
            <a:ext cx="36576" cy="4389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Maintain account coverage and prioritise Q4 inventory in these regions.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10515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51560"/>
            <a:ext cx="416052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161288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22392" y="117957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drives the highest revenue per 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600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of $456 vs $351 for Furniture and $119 for Office Supplies. Technology is 37% of total sales despite fewer orders.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258568"/>
            <a:ext cx="3886200" cy="438912"/>
          </a:xfrm>
          <a:prstGeom prst="rect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258568"/>
            <a:ext cx="36576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Cross-sell Technology with Furniture and Office Supplies orders to lift AOV.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71800"/>
            <a:ext cx="41605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8152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1832" y="309981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&amp; Central are growth opportunities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5204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grew 94% — faster than East (89%) — yet sits at just $440K total, suggesting it is underpenetrated relative to its momentum.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178808"/>
            <a:ext cx="3886200" cy="438912"/>
          </a:xfrm>
          <a:prstGeom prst="rect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178808"/>
            <a:ext cx="36576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206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Invest in South region sales resources; analyse state-level data to find top markets.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29718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2B4A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971800"/>
            <a:ext cx="4160520" cy="5029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081528"/>
            <a:ext cx="384048" cy="384048"/>
          </a:xfrm>
          <a:prstGeom prst="ellipse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22392" y="309981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Q4 seasonality — plan ahead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35204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and December spike every year. 2016 showed a mid-year dip; 2017 and 2018 showed accelerating growth in H2.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37760" y="4178808"/>
            <a:ext cx="3886200" cy="438912"/>
          </a:xfrm>
          <a:prstGeom prst="rect">
            <a:avLst/>
          </a:prstGeom>
          <a:solidFill>
            <a:srgbClr val="E8EEF7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4178808"/>
            <a:ext cx="36576" cy="43891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4206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Boost inventory and marketing spend in Oct–Nov. Run February promotions to offset the seasonal lull.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3200400" cy="3200400"/>
          </a:xfrm>
          <a:prstGeom prst="ellipse">
            <a:avLst/>
          </a:prstGeom>
          <a:solidFill>
            <a:srgbClr val="4A90D9">
              <a:alpha val="10000"/>
            </a:srgbClr>
          </a:solidFill>
          <a:ln w="12700">
            <a:solidFill>
              <a:srgbClr val="4A90D9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21945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· 2015–2018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9,800 orders cleaned &amp; explored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5935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business questions answered with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941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Excel dashboard with live charts built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2885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strategic recommendations identified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011680"/>
            <a:ext cx="2880360" cy="2560320"/>
          </a:xfrm>
          <a:prstGeom prst="rect">
            <a:avLst/>
          </a:prstGeom>
          <a:solidFill>
            <a:srgbClr val="1F3C6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2011680"/>
            <a:ext cx="2880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4871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profit margin analysis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29626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Forecast 2019 sales with ML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343814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Publish to Tableau / Power BI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39136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to portfolio on GitHub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</dc:title>
  <dc:subject>PptxGenJS Presentation</dc:subject>
  <dc:creator>Data Analysis Project</dc:creator>
  <cp:lastModifiedBy>Data Analysis Project</cp:lastModifiedBy>
  <cp:revision>1</cp:revision>
  <dcterms:created xsi:type="dcterms:W3CDTF">2026-03-15T12:23:13Z</dcterms:created>
  <dcterms:modified xsi:type="dcterms:W3CDTF">2026-03-15T12:23:13Z</dcterms:modified>
</cp:coreProperties>
</file>